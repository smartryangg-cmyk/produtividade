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lIns="457200" rIns="137160" tIns="73152" bIns="73152"/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CROWDFUNDING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846320" y="0"/>
            <a:ext cx="7132320" cy="12344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137160" rIns="137160" tIns="73152" bIns="73152"/>
          <a:lstStyle/>
          <a:p>
            <a:pPr algn="r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Financiamento coletivo: muitas pessoas contribuem com pequenas</a:t>
            </a:r>
          </a:p>
          <a:p>
            <a:pPr algn="r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quantias, pela internet, para tirar um projeto do papel.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508760"/>
            <a:ext cx="3637178" cy="4709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508760"/>
            <a:ext cx="3637178" cy="548640"/>
          </a:xfrm>
          <a:prstGeom prst="roundRect">
            <a:avLst>
              <a:gd name="adj" fmla="val 30000"/>
            </a:avLst>
          </a:prstGeom>
          <a:solidFill>
            <a:srgbClr val="2E86DE"/>
          </a:solidFill>
          <a:ln>
            <a:noFill/>
          </a:ln>
          <a:effectLst/>
        </p:spPr>
        <p:txBody>
          <a:bodyPr rtlCol="0" anchor="ctr" wrap="square" lIns="137160" rIns="137160" tIns="73152" bIns="73152"/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1  PASSO A PASSO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48840"/>
            <a:ext cx="3637178" cy="4023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137160" rIns="137160" tIns="73152" bIns="73152"/>
          <a:lstStyle/>
          <a:p>
            <a:pPr algn="l">
              <a:spcAft>
                <a:spcPts val="900"/>
              </a:spcAft>
            </a:pPr>
            <a:r>
              <a:rPr sz="1700" b="1">
                <a:solidFill>
                  <a:srgbClr val="444C5E"/>
                </a:solidFill>
                <a:latin typeface="Calibri"/>
              </a:rPr>
              <a:t>1. Defina </a:t>
            </a:r>
            <a:r>
              <a:rPr sz="1700" b="0">
                <a:solidFill>
                  <a:srgbClr val="444C5E"/>
                </a:solidFill>
                <a:latin typeface="Calibri"/>
              </a:rPr>
              <a:t>o projeto e o público</a:t>
            </a:r>
          </a:p>
          <a:p>
            <a:pPr algn="l">
              <a:spcAft>
                <a:spcPts val="900"/>
              </a:spcAft>
            </a:pPr>
            <a:r>
              <a:rPr sz="1700" b="1">
                <a:solidFill>
                  <a:srgbClr val="444C5E"/>
                </a:solidFill>
                <a:latin typeface="Calibri"/>
              </a:rPr>
              <a:t>2. Calcule a meta </a:t>
            </a:r>
            <a:r>
              <a:rPr sz="1700" b="0">
                <a:solidFill>
                  <a:srgbClr val="444C5E"/>
                </a:solidFill>
                <a:latin typeface="Calibri"/>
              </a:rPr>
              <a:t>(custos + taxa)</a:t>
            </a:r>
          </a:p>
          <a:p>
            <a:pPr algn="l">
              <a:spcAft>
                <a:spcPts val="900"/>
              </a:spcAft>
            </a:pPr>
            <a:r>
              <a:rPr sz="1700" b="1">
                <a:solidFill>
                  <a:srgbClr val="444C5E"/>
                </a:solidFill>
                <a:latin typeface="Calibri"/>
              </a:rPr>
              <a:t>3. Escolha a plataforma</a:t>
            </a:r>
          </a:p>
          <a:p>
            <a:pPr algn="l">
              <a:spcAft>
                <a:spcPts val="900"/>
              </a:spcAft>
            </a:pPr>
            <a:r>
              <a:rPr sz="1700" b="1">
                <a:solidFill>
                  <a:srgbClr val="444C5E"/>
                </a:solidFill>
                <a:latin typeface="Calibri"/>
              </a:rPr>
              <a:t>4. Modelo: </a:t>
            </a:r>
            <a:r>
              <a:rPr sz="1700" b="0">
                <a:solidFill>
                  <a:srgbClr val="444C5E"/>
                </a:solidFill>
                <a:latin typeface="Calibri"/>
              </a:rPr>
              <a:t>tudo ou nada / flexível</a:t>
            </a:r>
          </a:p>
          <a:p>
            <a:pPr algn="l">
              <a:spcAft>
                <a:spcPts val="900"/>
              </a:spcAft>
            </a:pPr>
            <a:r>
              <a:rPr sz="1700" b="1">
                <a:solidFill>
                  <a:srgbClr val="444C5E"/>
                </a:solidFill>
                <a:latin typeface="Calibri"/>
              </a:rPr>
              <a:t>5. Prazo: </a:t>
            </a:r>
            <a:r>
              <a:rPr sz="1700" b="0">
                <a:solidFill>
                  <a:srgbClr val="444C5E"/>
                </a:solidFill>
                <a:latin typeface="Calibri"/>
              </a:rPr>
              <a:t>30 a 60 dias</a:t>
            </a:r>
          </a:p>
          <a:p>
            <a:pPr algn="l">
              <a:spcAft>
                <a:spcPts val="900"/>
              </a:spcAft>
            </a:pPr>
            <a:r>
              <a:rPr sz="1700" b="1">
                <a:solidFill>
                  <a:srgbClr val="444C5E"/>
                </a:solidFill>
                <a:latin typeface="Calibri"/>
              </a:rPr>
              <a:t>6. Página: </a:t>
            </a:r>
            <a:r>
              <a:rPr sz="1700" b="0">
                <a:solidFill>
                  <a:srgbClr val="444C5E"/>
                </a:solidFill>
                <a:latin typeface="Calibri"/>
              </a:rPr>
              <a:t>vídeo, história, fotos</a:t>
            </a:r>
          </a:p>
          <a:p>
            <a:pPr algn="l">
              <a:spcAft>
                <a:spcPts val="900"/>
              </a:spcAft>
            </a:pPr>
            <a:r>
              <a:rPr sz="1700" b="1">
                <a:solidFill>
                  <a:srgbClr val="444C5E"/>
                </a:solidFill>
                <a:latin typeface="Calibri"/>
              </a:rPr>
              <a:t>7. Recompensas </a:t>
            </a:r>
            <a:r>
              <a:rPr sz="1700" b="0">
                <a:solidFill>
                  <a:srgbClr val="444C5E"/>
                </a:solidFill>
                <a:latin typeface="Calibri"/>
              </a:rPr>
              <a:t>por faixa de valor</a:t>
            </a:r>
          </a:p>
          <a:p>
            <a:pPr algn="l">
              <a:spcAft>
                <a:spcPts val="900"/>
              </a:spcAft>
            </a:pPr>
            <a:r>
              <a:rPr sz="1700" b="1">
                <a:solidFill>
                  <a:srgbClr val="444C5E"/>
                </a:solidFill>
                <a:latin typeface="Calibri"/>
              </a:rPr>
              <a:t>8. Divulgue </a:t>
            </a:r>
            <a:r>
              <a:rPr sz="1700" b="0">
                <a:solidFill>
                  <a:srgbClr val="444C5E"/>
                </a:solidFill>
                <a:latin typeface="Calibri"/>
              </a:rPr>
              <a:t>nas redes e no WhatsApp</a:t>
            </a:r>
          </a:p>
          <a:p>
            <a:pPr algn="l">
              <a:spcAft>
                <a:spcPts val="900"/>
              </a:spcAft>
            </a:pPr>
            <a:r>
              <a:rPr sz="1700" b="1">
                <a:solidFill>
                  <a:srgbClr val="444C5E"/>
                </a:solidFill>
                <a:latin typeface="Calibri"/>
              </a:rPr>
              <a:t>9. Atualize </a:t>
            </a:r>
            <a:r>
              <a:rPr sz="1700" b="0">
                <a:solidFill>
                  <a:srgbClr val="444C5E"/>
                </a:solidFill>
                <a:latin typeface="Calibri"/>
              </a:rPr>
              <a:t>os apoiadores</a:t>
            </a:r>
          </a:p>
          <a:p>
            <a:pPr algn="l">
              <a:spcAft>
                <a:spcPts val="900"/>
              </a:spcAft>
            </a:pPr>
            <a:r>
              <a:rPr sz="1700" b="1">
                <a:solidFill>
                  <a:srgbClr val="444C5E"/>
                </a:solidFill>
                <a:latin typeface="Calibri"/>
              </a:rPr>
              <a:t>10. Entregue </a:t>
            </a:r>
            <a:r>
              <a:rPr sz="1700" b="0">
                <a:solidFill>
                  <a:srgbClr val="444C5E"/>
                </a:solidFill>
                <a:latin typeface="Calibri"/>
              </a:rPr>
              <a:t>e preste contas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7258" y="1508760"/>
            <a:ext cx="3637178" cy="4709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77258" y="1508760"/>
            <a:ext cx="3637178" cy="548640"/>
          </a:xfrm>
          <a:prstGeom prst="roundRect">
            <a:avLst>
              <a:gd name="adj" fmla="val 30000"/>
            </a:avLst>
          </a:prstGeom>
          <a:solidFill>
            <a:srgbClr val="E85D75"/>
          </a:solidFill>
          <a:ln>
            <a:noFill/>
          </a:ln>
          <a:effectLst/>
        </p:spPr>
        <p:txBody>
          <a:bodyPr rtlCol="0" anchor="ctr" wrap="square" lIns="137160" rIns="137160" tIns="73152" bIns="73152"/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2  IMPACTO SOCIAL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7258" y="2148840"/>
            <a:ext cx="3637178" cy="4023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137160" rIns="137160" tIns="73152" bIns="73152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444C5E"/>
                </a:solidFill>
                <a:latin typeface="Calibri"/>
              </a:rPr>
              <a:t>Democratiza </a:t>
            </a:r>
            <a:r>
              <a:rPr sz="1500" b="0">
                <a:solidFill>
                  <a:srgbClr val="444C5E"/>
                </a:solidFill>
                <a:latin typeface="Calibri"/>
              </a:rPr>
              <a:t>o acesso a dinheiro, sem banco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444C5E"/>
                </a:solidFill>
                <a:latin typeface="Calibri"/>
              </a:rPr>
              <a:t>Solidariedade: </a:t>
            </a:r>
            <a:r>
              <a:rPr sz="1500" b="0">
                <a:solidFill>
                  <a:srgbClr val="444C5E"/>
                </a:solidFill>
                <a:latin typeface="Calibri"/>
              </a:rPr>
              <a:t>enchentes do RS (2024) mobilizaram milhões em dias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444C5E"/>
                </a:solidFill>
                <a:latin typeface="Calibri"/>
              </a:rPr>
              <a:t>Saúde: </a:t>
            </a:r>
            <a:r>
              <a:rPr sz="1500" b="0">
                <a:solidFill>
                  <a:srgbClr val="444C5E"/>
                </a:solidFill>
                <a:latin typeface="Calibri"/>
              </a:rPr>
              <a:t>vaquinhas para tratamentos e cirurgias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444C5E"/>
                </a:solidFill>
                <a:latin typeface="Calibri"/>
              </a:rPr>
              <a:t>Cultura: </a:t>
            </a:r>
            <a:r>
              <a:rPr sz="1500" b="0">
                <a:solidFill>
                  <a:srgbClr val="444C5E"/>
                </a:solidFill>
                <a:latin typeface="Calibri"/>
              </a:rPr>
              <a:t>filmes, livros e jogos independentes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444C5E"/>
                </a:solidFill>
                <a:latin typeface="Calibri"/>
              </a:rPr>
              <a:t>Empreendedorismo: </a:t>
            </a:r>
            <a:r>
              <a:rPr sz="1500" b="0">
                <a:solidFill>
                  <a:srgbClr val="444C5E"/>
                </a:solidFill>
                <a:latin typeface="Calibri"/>
              </a:rPr>
              <a:t>gera renda e empregos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444C5E"/>
                </a:solidFill>
                <a:latin typeface="Calibri"/>
              </a:rPr>
              <a:t>Comunidade: </a:t>
            </a:r>
            <a:r>
              <a:rPr sz="1500" b="0">
                <a:solidFill>
                  <a:srgbClr val="444C5E"/>
                </a:solidFill>
                <a:latin typeface="Calibri"/>
              </a:rPr>
              <a:t>escolas, ONGs e projetos ambientais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444C5E"/>
                </a:solidFill>
                <a:latin typeface="Calibri"/>
              </a:rPr>
              <a:t>Riscos: </a:t>
            </a:r>
            <a:r>
              <a:rPr sz="1500" b="0">
                <a:solidFill>
                  <a:srgbClr val="444C5E"/>
                </a:solidFill>
                <a:latin typeface="Calibri"/>
              </a:rPr>
              <a:t>golpes e desigualdade de alcance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8756" y="1508760"/>
            <a:ext cx="3637178" cy="4709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88756" y="1508760"/>
            <a:ext cx="3637178" cy="548640"/>
          </a:xfrm>
          <a:prstGeom prst="roundRect">
            <a:avLst>
              <a:gd name="adj" fmla="val 30000"/>
            </a:avLst>
          </a:prstGeom>
          <a:solidFill>
            <a:srgbClr val="27AE60"/>
          </a:solidFill>
          <a:ln>
            <a:noFill/>
          </a:ln>
          <a:effectLst/>
        </p:spPr>
        <p:txBody>
          <a:bodyPr rtlCol="0" anchor="ctr" wrap="square" lIns="137160" rIns="137160" tIns="73152" bIns="73152"/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3  PLATAFORMAS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8756" y="2148840"/>
            <a:ext cx="3637178" cy="4023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137160" rIns="137160" tIns="73152" bIns="73152"/>
          <a:lstStyle/>
          <a:p>
            <a:pPr algn="l">
              <a:spcAft>
                <a:spcPts val="900"/>
              </a:spcAft>
            </a:pPr>
            <a:r>
              <a:rPr sz="1700" b="1">
                <a:solidFill>
                  <a:srgbClr val="27AE60"/>
                </a:solidFill>
                <a:latin typeface="Calibri"/>
              </a:rPr>
              <a:t>Brasil</a:t>
            </a:r>
          </a:p>
          <a:p>
            <a:pPr algn="l">
              <a:spcAft>
                <a:spcPts val="900"/>
              </a:spcAft>
            </a:pPr>
            <a:r>
              <a:rPr sz="1700" b="1">
                <a:solidFill>
                  <a:srgbClr val="444C5E"/>
                </a:solidFill>
                <a:latin typeface="Calibri"/>
              </a:rPr>
              <a:t>Vakinha </a:t>
            </a:r>
            <a:r>
              <a:rPr sz="1700" b="0">
                <a:solidFill>
                  <a:srgbClr val="444C5E"/>
                </a:solidFill>
                <a:latin typeface="Calibri"/>
              </a:rPr>
              <a:t>· doações e causas pessoais</a:t>
            </a:r>
          </a:p>
          <a:p>
            <a:pPr algn="l">
              <a:spcAft>
                <a:spcPts val="900"/>
              </a:spcAft>
            </a:pPr>
            <a:r>
              <a:rPr sz="1700" b="1">
                <a:solidFill>
                  <a:srgbClr val="444C5E"/>
                </a:solidFill>
                <a:latin typeface="Calibri"/>
              </a:rPr>
              <a:t>Catarse </a:t>
            </a:r>
            <a:r>
              <a:rPr sz="1700" b="0">
                <a:solidFill>
                  <a:srgbClr val="444C5E"/>
                </a:solidFill>
                <a:latin typeface="Calibri"/>
              </a:rPr>
              <a:t>· projetos criativos</a:t>
            </a:r>
          </a:p>
          <a:p>
            <a:pPr algn="l">
              <a:spcAft>
                <a:spcPts val="900"/>
              </a:spcAft>
            </a:pPr>
            <a:r>
              <a:rPr sz="1700" b="1">
                <a:solidFill>
                  <a:srgbClr val="444C5E"/>
                </a:solidFill>
                <a:latin typeface="Calibri"/>
              </a:rPr>
              <a:t>Benfeitoria </a:t>
            </a:r>
            <a:r>
              <a:rPr sz="1700" b="0">
                <a:solidFill>
                  <a:srgbClr val="444C5E"/>
                </a:solidFill>
                <a:latin typeface="Calibri"/>
              </a:rPr>
              <a:t>· projetos sociais</a:t>
            </a:r>
          </a:p>
          <a:p>
            <a:pPr algn="l">
              <a:spcAft>
                <a:spcPts val="900"/>
              </a:spcAft>
            </a:pPr>
            <a:r>
              <a:rPr sz="1700" b="1">
                <a:solidFill>
                  <a:srgbClr val="444C5E"/>
                </a:solidFill>
                <a:latin typeface="Calibri"/>
              </a:rPr>
              <a:t>Apoia.se </a:t>
            </a:r>
            <a:r>
              <a:rPr sz="1700" b="0">
                <a:solidFill>
                  <a:srgbClr val="444C5E"/>
                </a:solidFill>
                <a:latin typeface="Calibri"/>
              </a:rPr>
              <a:t>· apoio mensal a criadores</a:t>
            </a:r>
          </a:p>
          <a:p>
            <a:pPr algn="l">
              <a:spcAft>
                <a:spcPts val="900"/>
              </a:spcAft>
            </a:pPr>
            <a:r>
              <a:rPr sz="1700" b="1">
                <a:solidFill>
                  <a:srgbClr val="27AE60"/>
                </a:solidFill>
                <a:latin typeface="Calibri"/>
              </a:rPr>
              <a:t>Mundo</a:t>
            </a:r>
          </a:p>
          <a:p>
            <a:pPr algn="l">
              <a:spcAft>
                <a:spcPts val="900"/>
              </a:spcAft>
            </a:pPr>
            <a:r>
              <a:rPr sz="1700" b="1">
                <a:solidFill>
                  <a:srgbClr val="444C5E"/>
                </a:solidFill>
                <a:latin typeface="Calibri"/>
              </a:rPr>
              <a:t>Kickstarter </a:t>
            </a:r>
            <a:r>
              <a:rPr sz="1700" b="0">
                <a:solidFill>
                  <a:srgbClr val="444C5E"/>
                </a:solidFill>
                <a:latin typeface="Calibri"/>
              </a:rPr>
              <a:t>· o mais famoso</a:t>
            </a:r>
          </a:p>
          <a:p>
            <a:pPr algn="l">
              <a:spcAft>
                <a:spcPts val="900"/>
              </a:spcAft>
            </a:pPr>
            <a:r>
              <a:rPr sz="1700" b="1">
                <a:solidFill>
                  <a:srgbClr val="444C5E"/>
                </a:solidFill>
                <a:latin typeface="Calibri"/>
              </a:rPr>
              <a:t>Indiegogo </a:t>
            </a:r>
            <a:r>
              <a:rPr sz="1700" b="0">
                <a:solidFill>
                  <a:srgbClr val="444C5E"/>
                </a:solidFill>
                <a:latin typeface="Calibri"/>
              </a:rPr>
              <a:t>· tecnologia e inovação</a:t>
            </a:r>
          </a:p>
          <a:p>
            <a:pPr algn="l">
              <a:spcAft>
                <a:spcPts val="900"/>
              </a:spcAft>
            </a:pPr>
            <a:r>
              <a:rPr sz="1700" b="1">
                <a:solidFill>
                  <a:srgbClr val="444C5E"/>
                </a:solidFill>
                <a:latin typeface="Calibri"/>
              </a:rPr>
              <a:t>GoFundMe </a:t>
            </a:r>
            <a:r>
              <a:rPr sz="1700" b="0">
                <a:solidFill>
                  <a:srgbClr val="444C5E"/>
                </a:solidFill>
                <a:latin typeface="Calibri"/>
              </a:rPr>
              <a:t>· maior de doações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lIns="137160" rIns="137160" tIns="73152" bIns="73152"/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Como funciona: o criador publica a campanha → apoiadores pagam por Pix, cartão ou boleto → a plataforma desconta uma taxa (5% a 13%) e repassa o valor.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